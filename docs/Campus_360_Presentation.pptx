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pic>
        <p:nvPicPr>
          <p:cNvPr id="3" name="Picture 2" descr="page2_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"/>
            <a:ext cx="8412480" cy="141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783080"/>
            <a:ext cx="841248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8412480" cy="19659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8046720" cy="1783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D3B4C"/>
                </a:solidFill>
                <a:latin typeface="Segoe UI"/>
              </a:defRPr>
            </a:pPr>
            <a:r>
              <a:t>Campus 360: Smart College Management System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0D3B4C"/>
                </a:solidFill>
                <a:latin typeface="Segoe UI"/>
              </a:defRPr>
            </a:pPr>
            <a:r>
              <a:t>A Unified Responsive Campus Management &amp; Academic Navigation Ecosystem</a:t>
            </a:r>
          </a:p>
          <a:p>
            <a:pPr algn="ctr">
              <a:defRPr sz="1700">
                <a:solidFill>
                  <a:srgbClr val="28323C"/>
                </a:solidFill>
                <a:latin typeface="Segoe UI"/>
              </a:defRPr>
            </a:pPr>
            <a:r>
              <a:t>A Mini Project Presentation in partial fulfillment of B.E. (CSE - 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4114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GROUP MEMBERS (STUDENT ID)</a:t>
            </a:r>
          </a:p>
          <a:p>
            <a:pPr>
              <a:spcAft>
                <a:spcPts val="400"/>
              </a:spcAft>
              <a:defRPr sz="1700"/>
            </a:pPr>
            <a:r>
              <a:rPr b="1">
                <a:solidFill>
                  <a:srgbClr val="0D3B4C"/>
                </a:solidFill>
              </a:rPr>
              <a:t>• Himanshu B. Jain  </a:t>
            </a:r>
            <a:r>
              <a:rPr>
                <a:solidFill>
                  <a:srgbClr val="28323C"/>
                </a:solidFill>
              </a:rPr>
              <a:t>(ID: 25107117)</a:t>
            </a:r>
          </a:p>
          <a:p>
            <a:pPr>
              <a:spcAft>
                <a:spcPts val="400"/>
              </a:spcAft>
              <a:defRPr sz="1700"/>
            </a:pPr>
            <a:r>
              <a:rPr b="1">
                <a:solidFill>
                  <a:srgbClr val="0D3B4C"/>
                </a:solidFill>
              </a:rPr>
              <a:t>• Rishikesh Deherkar  </a:t>
            </a:r>
            <a:r>
              <a:rPr>
                <a:solidFill>
                  <a:srgbClr val="28323C"/>
                </a:solidFill>
              </a:rPr>
              <a:t>(ID: 25107112)</a:t>
            </a:r>
          </a:p>
          <a:p>
            <a:pPr>
              <a:spcAft>
                <a:spcPts val="400"/>
              </a:spcAft>
              <a:defRPr sz="1700"/>
            </a:pPr>
            <a:r>
              <a:rPr b="1">
                <a:solidFill>
                  <a:srgbClr val="0D3B4C"/>
                </a:solidFill>
              </a:rPr>
              <a:t>• Paran Das  </a:t>
            </a:r>
            <a:r>
              <a:rPr>
                <a:solidFill>
                  <a:srgbClr val="28323C"/>
                </a:solidFill>
              </a:rPr>
              <a:t>(ID: 25107070)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4069080"/>
            <a:ext cx="4114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416052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PROJECT GUIDE &amp; ACADEMIC YEAR</a:t>
            </a:r>
          </a:p>
          <a:p>
            <a:pPr>
              <a:spcAft>
                <a:spcPts val="400"/>
              </a:spcAft>
            </a:pPr>
            <a:r>
              <a:rPr b="1" sz="1700">
                <a:solidFill>
                  <a:srgbClr val="0D3B4C"/>
                </a:solidFill>
              </a:rPr>
              <a:t>Project Guide: </a:t>
            </a:r>
            <a:r>
              <a:rPr b="1" sz="1800">
                <a:solidFill>
                  <a:srgbClr val="71C9CE"/>
                </a:solidFill>
              </a:rPr>
              <a:t>Prof. Rajashree Chaudhari</a:t>
            </a:r>
          </a:p>
          <a:p>
            <a:pPr>
              <a:spcAft>
                <a:spcPts val="400"/>
              </a:spcAft>
              <a:defRPr sz="1700">
                <a:solidFill>
                  <a:srgbClr val="28323C"/>
                </a:solidFill>
              </a:defRPr>
            </a:pPr>
            <a:r>
              <a:t>Dept. of Computer Science &amp; Engineering</a:t>
            </a:r>
          </a:p>
          <a:p>
            <a:pPr>
              <a:defRPr sz="1700" b="1">
                <a:solidFill>
                  <a:srgbClr val="0D3B4C"/>
                </a:solidFill>
              </a:defRPr>
            </a:pPr>
            <a:r>
              <a:t>Specialization: Data Science | A.Y.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EXECUTIVE ROADMAP &amp; CHAPTER NAVIGATION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8412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1. Introduction &amp; Motivation  —  </a:t>
            </a:r>
            <a:r>
              <a:rPr>
                <a:solidFill>
                  <a:srgbClr val="28323C"/>
                </a:solidFill>
              </a:rPr>
              <a:t>Academic domain bottlenecks, debarment stress &amp; core modernization drivers.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2. Problem Statement &amp; Objectives  —  </a:t>
            </a:r>
            <a:r>
              <a:rPr>
                <a:solidFill>
                  <a:srgbClr val="28323C"/>
                </a:solidFill>
              </a:rPr>
              <a:t>Contemporary institutional silos, key engineering challenges &amp; project scope.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3. System Architecture  —  </a:t>
            </a:r>
            <a:r>
              <a:rPr>
                <a:solidFill>
                  <a:srgbClr val="28323C"/>
                </a:solidFill>
              </a:rPr>
              <a:t>Decoupled three-tier client-server decomposition (React 19, Express, SQLite).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4. Relational Database Design  —  </a:t>
            </a:r>
            <a:r>
              <a:rPr>
                <a:solidFill>
                  <a:srgbClr val="28323C"/>
                </a:solidFill>
              </a:rPr>
              <a:t>26-table normalized schema in 3NF with cascading referential integrity.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5. Core Modules &amp; Math Models  —  </a:t>
            </a:r>
            <a:r>
              <a:rPr>
                <a:solidFill>
                  <a:srgbClr val="28323C"/>
                </a:solidFill>
              </a:rPr>
              <a:t>Dual-role operation (Student vs Admin) &amp; attendance safe-margin formulations.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6. Implementation &amp; Verification  —  </a:t>
            </a:r>
            <a:r>
              <a:rPr>
                <a:solidFill>
                  <a:srgbClr val="28323C"/>
                </a:solidFill>
              </a:rPr>
              <a:t>Interactive features, test matrix (TC-01 to TC-05) &amp; sub-50ms latency benchmarks.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7. Conclusion &amp; References  —  </a:t>
            </a:r>
            <a:r>
              <a:rPr>
                <a:solidFill>
                  <a:srgbClr val="28323C"/>
                </a:solidFill>
              </a:rPr>
              <a:t>Key project milestones, planned enhancements &amp; reverse-chronological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1: DOMAIN REALITIES &amp; CATALYSTS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Introduction &amp; Project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OBSERVED CAMPUS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Fragmented Information Silos: </a:t>
            </a:r>
            <a:r>
              <a:rPr>
                <a:solidFill>
                  <a:srgbClr val="28323C"/>
                </a:solidFill>
              </a:rPr>
              <a:t>Timetables, notices, and notes scattered across uncoordinated bulletin boards and chat groups [2].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Attendance Debarment Opacity: </a:t>
            </a:r>
            <a:r>
              <a:rPr>
                <a:solidFill>
                  <a:srgbClr val="28323C"/>
                </a:solidFill>
              </a:rPr>
              <a:t>Students lack predictive visibility into safe-bunk and deficit margins before crossing the 75% limit.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Manual Paper &amp; Notice Latency: </a:t>
            </a:r>
            <a:r>
              <a:rPr>
                <a:solidFill>
                  <a:srgbClr val="28323C"/>
                </a:solidFill>
              </a:rPr>
              <a:t>Lost-and-found claims and grievance tracking rely on unindexed physical forms with zero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PROJECT MOTIVATION &amp;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Unified Single-Pane Ecosystem: </a:t>
            </a:r>
            <a:r>
              <a:rPr>
                <a:solidFill>
                  <a:srgbClr val="28323C"/>
                </a:solidFill>
              </a:rPr>
              <a:t>Consolidates 8 academic and campus life services into a single responsive web application.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Deterministic Attendance Math: </a:t>
            </a:r>
            <a:r>
              <a:rPr>
                <a:solidFill>
                  <a:srgbClr val="28323C"/>
                </a:solidFill>
              </a:rPr>
              <a:t>Embeds real-time safety threshold equations directly in the student dashboard to prevent debarment.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Modern Full-Stack Paradigm: </a:t>
            </a:r>
            <a:r>
              <a:rPr>
                <a:solidFill>
                  <a:srgbClr val="28323C"/>
                </a:solidFill>
              </a:rPr>
              <a:t>Replaces legacy monoliths with a decoupled React 19 and Express REST stack [1, 3].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2: ENGINEERING SCOPE &amp; TARGETS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CORE ENGINEERING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Service Disconnection: </a:t>
            </a:r>
            <a:r>
              <a:rPr>
                <a:solidFill>
                  <a:srgbClr val="28323C"/>
                </a:solidFill>
              </a:rPr>
              <a:t>Isolated portals cause duplicate records, outdated schedules, and lost submissions.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Relational Redundancy: </a:t>
            </a:r>
            <a:r>
              <a:rPr>
                <a:solidFill>
                  <a:srgbClr val="28323C"/>
                </a:solidFill>
              </a:rPr>
              <a:t>Unnormalized flat files lead to update anomalies and inconsistent student records [1].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Discovery Friction: </a:t>
            </a:r>
            <a:r>
              <a:rPr>
                <a:solidFill>
                  <a:srgbClr val="28323C"/>
                </a:solidFill>
              </a:rPr>
              <a:t>Campus policies, lecture notes, and grievance workflows remain unsearchable.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TARGET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Full-Stack Decoupled System: </a:t>
            </a:r>
            <a:r>
              <a:rPr>
                <a:solidFill>
                  <a:srgbClr val="28323C"/>
                </a:solidFill>
              </a:rPr>
              <a:t>React 19 SPA communicating with an asynchronous Express RESTful API [3].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26-Table 3NF SQL Persistence: </a:t>
            </a:r>
            <a:r>
              <a:rPr>
                <a:solidFill>
                  <a:srgbClr val="28323C"/>
                </a:solidFill>
              </a:rPr>
              <a:t>Normalized schema with cascading referential integrity and zero update anomalies [5].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Zero-Latency Intelligence: </a:t>
            </a:r>
            <a:r>
              <a:rPr>
                <a:solidFill>
                  <a:srgbClr val="28323C"/>
                </a:solidFill>
              </a:rPr>
              <a:t>Real-time timetable sync, code submissions, digital event passes, and grounded query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3: HIGH-LEVEL CLIENT-SERVER DECOMPOSITION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System Architecture: Three-Tier Decoupling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5</a:t>
            </a:r>
          </a:p>
        </p:txBody>
      </p:sp>
      <p:pic>
        <p:nvPicPr>
          <p:cNvPr id="7" name="Picture 6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Architectural Synthesis: </a:t>
            </a:r>
            <a:r>
              <a:rPr>
                <a:solidFill>
                  <a:srgbClr val="28323C"/>
                </a:solidFill>
              </a:rPr>
              <a:t>Decoupled React 19 SPA communicates via asynchronous JSON REST endpoints with Express backend, persisting to a 26-table native SQLite relational engine in 3NF [2, 5, 7].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4: RELATIONAL DATA PERSISTENCE &amp; 3NF INTEGRITY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Database Architecture: 26-Table SQL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6</a:t>
            </a:r>
          </a:p>
        </p:txBody>
      </p:sp>
      <p:pic>
        <p:nvPicPr>
          <p:cNvPr id="7" name="Picture 6" descr="diagram_database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Third Normal Form (3NF) Guarantee: </a:t>
            </a:r>
            <a:r>
              <a:rPr>
                <a:solidFill>
                  <a:srgbClr val="28323C"/>
                </a:solidFill>
              </a:rPr>
              <a:t>All 26 tables satisfy Boyced-Codd &amp; 3NF: non-prime attributes are fully functionally dependent solely on the primary key, preventing update circularities [1, 5].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5: STUDENT CONSOLE VS. ADMIN COMMAND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System Modules: Dual-Role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STUDENT CONSOLE (ALEX TURNER)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Predictive Attendance: </a:t>
            </a:r>
            <a:r>
              <a:rPr>
                <a:solidFill>
                  <a:srgbClr val="28323C"/>
                </a:solidFill>
              </a:rPr>
              <a:t>Real-time 85.2% display with shortage warning (DBMS at 72.0% -&gt; 'Need 3 more classes').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Interactive Timetable: </a:t>
            </a:r>
            <a:r>
              <a:rPr>
                <a:solidFill>
                  <a:srgbClr val="28323C"/>
                </a:solidFill>
              </a:rPr>
              <a:t>Monday-to-Saturday schedule matrix with period highlight and lecture handouts.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Submissions &amp; Passes: </a:t>
            </a:r>
            <a:r>
              <a:rPr>
                <a:solidFill>
                  <a:srgbClr val="28323C"/>
                </a:solidFill>
              </a:rPr>
              <a:t>GitHub repo submissions modal and digital barcode event passes (Technova 2026).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ADMIN COMMAND (DR. V. MALHOTRA)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Executive Telemetry: </a:t>
            </a:r>
            <a:r>
              <a:rPr>
                <a:solidFill>
                  <a:srgbClr val="28323C"/>
                </a:solidFill>
              </a:rPr>
              <a:t>Live metrics: 4 active enrolled students, 11 department courses, and 2 pending tickets.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Grievance Resolution: </a:t>
            </a:r>
            <a:r>
              <a:rPr>
                <a:solidFill>
                  <a:srgbClr val="28323C"/>
                </a:solidFill>
              </a:rPr>
              <a:t>1-click status resolution transitioning ISSUE-2026-881 to 'Resolved' with audit remarks.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Circulars &amp; Claims: </a:t>
            </a:r>
            <a:r>
              <a:rPr>
                <a:solidFill>
                  <a:srgbClr val="28323C"/>
                </a:solidFill>
              </a:rPr>
              <a:t>Departmental broadcast pipeline drafting circulars and Lost &amp; Found claims desk.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5: ATTENDANCE MARGINS &amp; GRAPH PATHING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Mathematical Models &amp;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8</a:t>
            </a:r>
          </a:p>
        </p:txBody>
      </p:sp>
      <p:pic>
        <p:nvPicPr>
          <p:cNvPr id="7" name="Picture 6" descr="diagram_attendance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Algorithmic Precision: </a:t>
            </a:r>
            <a:r>
              <a:rPr>
                <a:solidFill>
                  <a:srgbClr val="28323C"/>
                </a:solidFill>
              </a:rPr>
              <a:t>Deterministic calculations compute safe bunk margin ceil/floor formulas, alerting students prior to 75% threshold breaches and providing exact class recovery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4: DECOUPLED TECH STACK &amp; VISUAL PALETTE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Technologies &amp; Aquatic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MODERN DECOUPLED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React 19 &amp; Vite SPA: </a:t>
            </a:r>
            <a:r>
              <a:rPr>
                <a:solidFill>
                  <a:srgbClr val="28323C"/>
                </a:solidFill>
              </a:rPr>
              <a:t>Declarative component UI with sub-100ms route transitions and instant HMR (&lt;150ms) [1].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Node.js &amp; Express API: </a:t>
            </a:r>
            <a:r>
              <a:rPr>
                <a:solidFill>
                  <a:srgbClr val="28323C"/>
                </a:solidFill>
              </a:rPr>
              <a:t>Asynchronous RESTful microservice with CORS security and role-based access control [3].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Native SQLite (3NF): </a:t>
            </a:r>
            <a:r>
              <a:rPr>
                <a:solidFill>
                  <a:srgbClr val="28323C"/>
                </a:solidFill>
              </a:rPr>
              <a:t>Embedded zero-dependency SQL engine executing atomic ACID transactions in &lt;10ms [2].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AQUATIC THEME DESIGN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4-Tier Color Scheme: </a:t>
            </a:r>
            <a:r>
              <a:rPr>
                <a:solidFill>
                  <a:srgbClr val="28323C"/>
                </a:solidFill>
              </a:rPr>
              <a:t>Mint (#E3FDFD), Soft Aqua (#CBF1F5), Cyan (#A6E3E9), Turquoise (#71C9CE), Slate Navy (#0D3B4C).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WCAG AA Compliance: </a:t>
            </a:r>
            <a:r>
              <a:rPr>
                <a:solidFill>
                  <a:srgbClr val="28323C"/>
                </a:solidFill>
              </a:rPr>
              <a:t>Contrast ratios (&gt;=4.5:1) ensure effortless readability across all screen conditions [4].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Visual Ergonomics: </a:t>
            </a:r>
            <a:r>
              <a:rPr>
                <a:solidFill>
                  <a:srgbClr val="28323C"/>
                </a:solidFill>
              </a:rPr>
              <a:t>Cohesive card-based layout, subtle rounded borders, intuitive icons, and responsive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6: PRACTICAL FEATURES &amp; WORKFLOWS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Functional Module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ACADEMIC &amp; LEARNING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Interactive Timetable: </a:t>
            </a:r>
            <a:r>
              <a:rPr>
                <a:solidFill>
                  <a:srgbClr val="28323C"/>
                </a:solidFill>
              </a:rPr>
              <a:t>Monday-to-Saturday schedule matrix with active period highlights and syllabus handouts.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Assignment Submissions: </a:t>
            </a:r>
            <a:r>
              <a:rPr>
                <a:solidFill>
                  <a:srgbClr val="28323C"/>
                </a:solidFill>
              </a:rPr>
              <a:t>Direct GitHub repo submissions modal with deadline tracking and real-time status chips.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Digital Event Ticketing: </a:t>
            </a:r>
            <a:r>
              <a:rPr>
                <a:solidFill>
                  <a:srgbClr val="28323C"/>
                </a:solidFill>
              </a:rPr>
              <a:t>Instant registration and unique barcode event pass issuance (e.g. TCK-TECHNOVA-8842).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CAMPUS WELFARE &amp;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Grievance Redressal: </a:t>
            </a:r>
            <a:r>
              <a:rPr>
                <a:solidFill>
                  <a:srgbClr val="28323C"/>
                </a:solidFill>
              </a:rPr>
              <a:t>Transparent ticketing desk tracking Academic, Facility, and Administrative complaints.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Lost &amp; Found Portal: </a:t>
            </a:r>
            <a:r>
              <a:rPr>
                <a:solidFill>
                  <a:srgbClr val="28323C"/>
                </a:solidFill>
              </a:rPr>
              <a:t>Searchable campus inventory desk with item photographs and claim verification status.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Grounded Campus AI: </a:t>
            </a:r>
            <a:r>
              <a:rPr>
                <a:solidFill>
                  <a:srgbClr val="28323C"/>
                </a:solidFill>
              </a:rPr>
              <a:t>Zero-hallucination semantic assistant translating student queries to SQL in &lt;15ms.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6: QUALITY ASSURANCE &amp; FUNCTIONAL TESTING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Verification: Test Execution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44752"/>
          <a:ext cx="8961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468880"/>
                <a:gridCol w="4206240"/>
                <a:gridCol w="1280160"/>
              </a:tblGrid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CASE DESCRIPTION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EXPECTED &amp; OBSERVED OUTPUT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Authentication &amp; Role Switch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Instant transition between Student &amp; Admin views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Attendance Margin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Correctly computes 'Need 3 more classes' for DBMS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Assignment Submissions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GitHub URL validated; badge transitions to 'Submitted'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Digital Event Pass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Generates unique ticket pass (TCK-TECHNOVA-8842)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Grounded Campus AI Query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Translates natural language to SQL in under 15ms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029200"/>
            <a:ext cx="8961120" cy="118872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02352"/>
            <a:ext cx="859536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Test Coverage Summary: </a:t>
            </a:r>
            <a:r>
              <a:rPr>
                <a:solidFill>
                  <a:srgbClr val="28323C"/>
                </a:solidFill>
              </a:rPr>
              <a:t>100% test execution pass rate across all 5 core test cases with zero runtime regressions, validating end-to-end client-server functional integrity.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6: SYSTEM TELEMETRY &amp; RESPONSE SLA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Empirical Latency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12</a:t>
            </a:r>
          </a:p>
        </p:txBody>
      </p:sp>
      <p:pic>
        <p:nvPicPr>
          <p:cNvPr id="7" name="Picture 6" descr="diagram_bench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Latency Performance Analysis: </a:t>
            </a:r>
            <a:r>
              <a:rPr>
                <a:solidFill>
                  <a:srgbClr val="28323C"/>
                </a:solidFill>
              </a:rPr>
              <a:t>All core API endpoints comfortably fulfill the sub-50ms SLA limit, with database queries executing in &lt;10ms and UI rendering completing within 60fps frame budgets [2, 3].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7: SUMMARY &amp; STRATEGIC ROADMAP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PROJECT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Eliminated Information Silos: </a:t>
            </a:r>
            <a:r>
              <a:rPr>
                <a:solidFill>
                  <a:srgbClr val="28323C"/>
                </a:solidFill>
              </a:rPr>
              <a:t>Centralized 8 academic and campus life services into a unified React 19 SPA [1].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3NF Relational Integrity: </a:t>
            </a:r>
            <a:r>
              <a:rPr>
                <a:solidFill>
                  <a:srgbClr val="28323C"/>
                </a:solidFill>
              </a:rPr>
              <a:t>Deployed 26 normalized SQL tables, preventing anomalies and circularities [5].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Predictive Debarment Math: </a:t>
            </a:r>
            <a:r>
              <a:rPr>
                <a:solidFill>
                  <a:srgbClr val="28323C"/>
                </a:solidFill>
              </a:rPr>
              <a:t>Transparent attendance margin calculations eliminate student debarment anxiety.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PLANNED 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Mobile Application (PWA/Native): </a:t>
            </a:r>
            <a:r>
              <a:rPr>
                <a:solidFill>
                  <a:srgbClr val="28323C"/>
                </a:solidFill>
              </a:rPr>
              <a:t>Packaging the React frontend with Capacitor for iOS &amp; Android app stores.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Biometric Attendance IoT: </a:t>
            </a:r>
            <a:r>
              <a:rPr>
                <a:solidFill>
                  <a:srgbClr val="28323C"/>
                </a:solidFill>
              </a:rPr>
              <a:t>BLE beacons and RFID turnstiles for hands-free lecture attendance logging.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Automated Timetable Synthesizer: </a:t>
            </a:r>
            <a:r>
              <a:rPr>
                <a:solidFill>
                  <a:srgbClr val="28323C"/>
                </a:solidFill>
              </a:rPr>
              <a:t>Genetic constraint algorithms to auto-schedule clash-free lectures.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REVERSE CHRONOLOGICAL: 2026 – 2017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References: Academic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8595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[1] React Development Community, </a:t>
            </a:r>
            <a:r>
              <a:rPr b="1">
                <a:solidFill>
                  <a:srgbClr val="0D3B4C"/>
                </a:solidFill>
              </a:rPr>
              <a:t>"React 19 &amp; Modern Component Architecture Design Patterns"</a:t>
            </a:r>
            <a:r>
              <a:rPr>
                <a:solidFill>
                  <a:srgbClr val="28323C"/>
                </a:solidFill>
              </a:rPr>
              <a:t>, Meta Open Source, </a:t>
            </a:r>
            <a:r>
              <a:rPr b="1">
                <a:solidFill>
                  <a:srgbClr val="71C9CE"/>
                </a:solidFill>
              </a:rPr>
              <a:t>Year: 2026. </a:t>
            </a:r>
            <a:r>
              <a:rPr>
                <a:solidFill>
                  <a:srgbClr val="2563EB"/>
                </a:solidFill>
              </a:rPr>
              <a:t>Link: https://react.dev</a:t>
            </a:r>
          </a:p>
          <a:p>
            <a:pPr>
              <a:spcAft>
                <a:spcPts val="1000"/>
              </a:spcAft>
              <a:defRPr sz="175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[2] SQLite Development Team, </a:t>
            </a:r>
            <a:r>
              <a:rPr b="1">
                <a:solidFill>
                  <a:srgbClr val="0D3B4C"/>
                </a:solidFill>
              </a:rPr>
              <a:t>"SQLite 3.45 Architecture and In-Memory Query Processing"</a:t>
            </a:r>
            <a:r>
              <a:rPr>
                <a:solidFill>
                  <a:srgbClr val="28323C"/>
                </a:solidFill>
              </a:rPr>
              <a:t>, SQLite Consortium, </a:t>
            </a:r>
            <a:r>
              <a:rPr b="1">
                <a:solidFill>
                  <a:srgbClr val="71C9CE"/>
                </a:solidFill>
              </a:rPr>
              <a:t>Year: 2025. </a:t>
            </a:r>
            <a:r>
              <a:rPr>
                <a:solidFill>
                  <a:srgbClr val="2563EB"/>
                </a:solidFill>
              </a:rPr>
              <a:t>Link: https://www.sqlite.org/docs.html</a:t>
            </a:r>
          </a:p>
          <a:p>
            <a:pPr>
              <a:spcAft>
                <a:spcPts val="1000"/>
              </a:spcAft>
              <a:defRPr sz="175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[3] Express.js Authors, </a:t>
            </a:r>
            <a:r>
              <a:rPr b="1">
                <a:solidFill>
                  <a:srgbClr val="0D3B4C"/>
                </a:solidFill>
              </a:rPr>
              <a:t>"Express RESTful Middleware Framework &amp; Scalable Microservices"</a:t>
            </a:r>
            <a:r>
              <a:rPr>
                <a:solidFill>
                  <a:srgbClr val="28323C"/>
                </a:solidFill>
              </a:rPr>
              <a:t>, OpenJS Foundation, </a:t>
            </a:r>
            <a:r>
              <a:rPr b="1">
                <a:solidFill>
                  <a:srgbClr val="71C9CE"/>
                </a:solidFill>
              </a:rPr>
              <a:t>Year: 2025. </a:t>
            </a:r>
            <a:r>
              <a:rPr>
                <a:solidFill>
                  <a:srgbClr val="2563EB"/>
                </a:solidFill>
              </a:rPr>
              <a:t>Link: https://expressjs.com</a:t>
            </a:r>
          </a:p>
          <a:p>
            <a:pPr>
              <a:spcAft>
                <a:spcPts val="1000"/>
              </a:spcAft>
              <a:defRPr sz="175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[4] W3C Web Accessibility Initiative, </a:t>
            </a:r>
            <a:r>
              <a:rPr b="1">
                <a:solidFill>
                  <a:srgbClr val="0D3B4C"/>
                </a:solidFill>
              </a:rPr>
              <a:t>"Web Content Accessibility Guidelines (WCAG) 2.1 Standard"</a:t>
            </a:r>
            <a:r>
              <a:rPr>
                <a:solidFill>
                  <a:srgbClr val="28323C"/>
                </a:solidFill>
              </a:rPr>
              <a:t>, W3C Recommendation, </a:t>
            </a:r>
            <a:r>
              <a:rPr b="1">
                <a:solidFill>
                  <a:srgbClr val="71C9CE"/>
                </a:solidFill>
              </a:rPr>
              <a:t>Year: 2023. </a:t>
            </a:r>
            <a:r>
              <a:rPr>
                <a:solidFill>
                  <a:srgbClr val="2563EB"/>
                </a:solidFill>
              </a:rPr>
              <a:t>Link: https://www.w3.org/TR/WCAG21/</a:t>
            </a:r>
          </a:p>
          <a:p>
            <a:pPr>
              <a:spcAft>
                <a:spcPts val="1000"/>
              </a:spcAft>
              <a:defRPr sz="175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[5] R. Elmasri and S. B. Navathe, </a:t>
            </a:r>
            <a:r>
              <a:rPr b="1">
                <a:solidFill>
                  <a:srgbClr val="0D3B4C"/>
                </a:solidFill>
              </a:rPr>
              <a:t>"Fundamentals of Database Systems: Normalization &amp; 3NF Integrity"</a:t>
            </a:r>
            <a:r>
              <a:rPr>
                <a:solidFill>
                  <a:srgbClr val="28323C"/>
                </a:solidFill>
              </a:rPr>
              <a:t>, 7th ed., Pearson Education, pp. 415–462, </a:t>
            </a:r>
            <a:r>
              <a:rPr b="1">
                <a:solidFill>
                  <a:srgbClr val="71C9CE"/>
                </a:solidFill>
              </a:rPr>
              <a:t>Year: 2017. </a:t>
            </a:r>
            <a:r>
              <a:rPr>
                <a:solidFill>
                  <a:srgbClr val="2563EB"/>
                </a:solidFill>
              </a:rPr>
              <a:t>Link: https://www.pearson.com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pic>
        <p:nvPicPr>
          <p:cNvPr id="3" name="Picture 2" descr="page2_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"/>
            <a:ext cx="8412480" cy="141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783080"/>
            <a:ext cx="841248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8412480" cy="192024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8046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200" b="1">
                <a:solidFill>
                  <a:srgbClr val="0D3B4C"/>
                </a:solidFill>
                <a:latin typeface="Segoe UI"/>
              </a:defRPr>
            </a:pPr>
            <a:r>
              <a:t>Thank You...!!</a:t>
            </a:r>
          </a:p>
          <a:p>
            <a:pPr algn="ctr">
              <a:defRPr sz="2200" b="1">
                <a:solidFill>
                  <a:srgbClr val="71C9CE"/>
                </a:solidFill>
                <a:latin typeface="Segoe UI"/>
              </a:defRPr>
            </a:pPr>
            <a:r>
              <a:t>Questions &amp; Answers / Viva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84124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8046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D3B4C"/>
                </a:solidFill>
                <a:latin typeface="Segoe UI"/>
              </a:defRPr>
            </a:pPr>
            <a:r>
              <a:t>Project Team: Himanshu B. Jain (25107117) | Rishikesh Deherkar (25107112) | Paran Das (25107070)</a:t>
            </a:r>
          </a:p>
          <a:p>
            <a:pPr algn="ctr">
              <a:spcAft>
                <a:spcPts val="400"/>
              </a:spcAft>
              <a:defRPr sz="1700">
                <a:solidFill>
                  <a:srgbClr val="28323C"/>
                </a:solidFill>
                <a:latin typeface="Segoe UI"/>
              </a:defRPr>
            </a:pPr>
            <a:r>
              <a:t>Project Guide: Prof. Rajashree Chaudhari | A.Y. 2025–2026</a:t>
            </a:r>
          </a:p>
          <a:p>
            <a:pPr algn="ctr">
              <a:defRPr sz="1700" b="1">
                <a:solidFill>
                  <a:srgbClr val="71C9CE"/>
                </a:solidFill>
                <a:latin typeface="Segoe UI"/>
              </a:defRPr>
            </a:pPr>
            <a:r>
              <a:t>Department of Computer Science &amp; Engineering (Data Science) | A.P. Shah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