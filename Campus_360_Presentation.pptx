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pic>
        <p:nvPicPr>
          <p:cNvPr id="3" name="Picture 2" descr="page2_Image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4320"/>
            <a:ext cx="8412480" cy="1417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1783080"/>
            <a:ext cx="841248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8412480" cy="1965960"/>
          </a:xfrm>
          <a:prstGeom prst="roundRect">
            <a:avLst/>
          </a:prstGeom>
          <a:solidFill>
            <a:srgbClr val="E3FDFD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8046720" cy="17830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0D3B4C"/>
                </a:solidFill>
                <a:latin typeface="Segoe UI"/>
              </a:defRPr>
            </a:pPr>
            <a:r>
              <a:t>Campus 360: Smart College Management System</a:t>
            </a:r>
          </a:p>
          <a:p>
            <a:pPr algn="ctr">
              <a:spcAft>
                <a:spcPts val="600"/>
              </a:spcAft>
              <a:defRPr sz="1800" b="1">
                <a:solidFill>
                  <a:srgbClr val="0D3B4C"/>
                </a:solidFill>
                <a:latin typeface="Segoe UI"/>
              </a:defRPr>
            </a:pPr>
            <a:r>
              <a:t>A Unified Responsive Campus Management &amp; Academic Navigation Ecosystem</a:t>
            </a:r>
          </a:p>
          <a:p>
            <a:pPr algn="ctr">
              <a:defRPr sz="1700">
                <a:solidFill>
                  <a:srgbClr val="28323C"/>
                </a:solidFill>
                <a:latin typeface="Segoe UI"/>
              </a:defRPr>
            </a:pPr>
            <a:r>
              <a:t>A Mini Project Presentation in partial fulfillment of B.E. (CSE - Data Science)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069080"/>
            <a:ext cx="4114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D3B4C"/>
                </a:solidFill>
                <a:latin typeface="Segoe UI"/>
              </a:defRPr>
            </a:pPr>
            <a:r>
              <a:t>GROUP MEMBERS (STUDENT ID)</a:t>
            </a:r>
          </a:p>
          <a:p>
            <a:pPr>
              <a:spcAft>
                <a:spcPts val="400"/>
              </a:spcAft>
              <a:defRPr sz="1700"/>
            </a:pPr>
            <a:r>
              <a:rPr b="1">
                <a:solidFill>
                  <a:srgbClr val="0D3B4C"/>
                </a:solidFill>
              </a:rPr>
              <a:t>• Himanshu B. Jain  </a:t>
            </a:r>
            <a:r>
              <a:rPr>
                <a:solidFill>
                  <a:srgbClr val="28323C"/>
                </a:solidFill>
              </a:rPr>
              <a:t>(ID: 25107117)</a:t>
            </a:r>
          </a:p>
          <a:p>
            <a:pPr>
              <a:spcAft>
                <a:spcPts val="400"/>
              </a:spcAft>
              <a:defRPr sz="1700"/>
            </a:pPr>
            <a:r>
              <a:rPr b="1">
                <a:solidFill>
                  <a:srgbClr val="0D3B4C"/>
                </a:solidFill>
              </a:rPr>
              <a:t>• Rishikesh Deherkar  </a:t>
            </a:r>
            <a:r>
              <a:rPr>
                <a:solidFill>
                  <a:srgbClr val="28323C"/>
                </a:solidFill>
              </a:rPr>
              <a:t>(ID: 25107112)</a:t>
            </a:r>
          </a:p>
          <a:p>
            <a:pPr>
              <a:spcAft>
                <a:spcPts val="400"/>
              </a:spcAft>
              <a:defRPr sz="1700"/>
            </a:pPr>
            <a:r>
              <a:rPr b="1">
                <a:solidFill>
                  <a:srgbClr val="0D3B4C"/>
                </a:solidFill>
              </a:rPr>
              <a:t>• Paran Das  </a:t>
            </a:r>
            <a:r>
              <a:rPr>
                <a:solidFill>
                  <a:srgbClr val="28323C"/>
                </a:solidFill>
              </a:rPr>
              <a:t>(ID: 25107070)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4069080"/>
            <a:ext cx="4114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4160520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D3B4C"/>
                </a:solidFill>
                <a:latin typeface="Segoe UI"/>
              </a:defRPr>
            </a:pPr>
            <a:r>
              <a:t>PROJECT GUIDE &amp; ACADEMIC YEAR</a:t>
            </a:r>
          </a:p>
          <a:p>
            <a:pPr>
              <a:spcAft>
                <a:spcPts val="400"/>
              </a:spcAft>
            </a:pPr>
            <a:r>
              <a:rPr b="1" sz="1700">
                <a:solidFill>
                  <a:srgbClr val="0D3B4C"/>
                </a:solidFill>
              </a:rPr>
              <a:t>Project Guide: </a:t>
            </a:r>
            <a:r>
              <a:rPr b="1" sz="1800">
                <a:solidFill>
                  <a:srgbClr val="71C9CE"/>
                </a:solidFill>
              </a:rPr>
              <a:t>Prof. Rajashri Chaudhari</a:t>
            </a:r>
          </a:p>
          <a:p>
            <a:pPr>
              <a:spcAft>
                <a:spcPts val="400"/>
              </a:spcAft>
              <a:defRPr sz="1700">
                <a:solidFill>
                  <a:srgbClr val="28323C"/>
                </a:solidFill>
              </a:defRPr>
            </a:pPr>
            <a:r>
              <a:t>Dept. of Computer Science &amp; Engineering</a:t>
            </a:r>
          </a:p>
          <a:p>
            <a:pPr>
              <a:defRPr sz="1700" b="1">
                <a:solidFill>
                  <a:srgbClr val="0D3B4C"/>
                </a:solidFill>
              </a:defRPr>
            </a:pPr>
            <a:r>
              <a:t>Specialization: Data Science | A.Y.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ROADMAP &amp; CHAPTER SEQUENCE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896112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84124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0D3B4C"/>
                </a:solidFill>
              </a:rPr>
              <a:t>1. Introduction  —  </a:t>
            </a:r>
            <a:r>
              <a:rPr>
                <a:solidFill>
                  <a:srgbClr val="28323C"/>
                </a:solidFill>
              </a:rPr>
              <a:t>Real-time domain observations, problem analysis, motivation &amp; core objectives.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0D3B4C"/>
                </a:solidFill>
              </a:rPr>
              <a:t>2. Problem Statement  —  </a:t>
            </a:r>
            <a:r>
              <a:rPr>
                <a:solidFill>
                  <a:srgbClr val="28323C"/>
                </a:solidFill>
              </a:rPr>
              <a:t>Contemporary institutional silos, key addressed challenges &amp; conceptual architecture.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0D3B4C"/>
                </a:solidFill>
              </a:rPr>
              <a:t>3. System Design  —  </a:t>
            </a:r>
            <a:r>
              <a:rPr>
                <a:solidFill>
                  <a:srgbClr val="28323C"/>
                </a:solidFill>
              </a:rPr>
              <a:t>Three-tier architecture, 26-table relational SQL model (3NF) &amp; mathematical formulations.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0D3B4C"/>
                </a:solidFill>
              </a:rPr>
              <a:t>4. Technologies &amp; Methodologies  —  </a:t>
            </a:r>
            <a:r>
              <a:rPr>
                <a:solidFill>
                  <a:srgbClr val="28323C"/>
                </a:solidFill>
              </a:rPr>
              <a:t>React 19 SPA, Express REST API, SQLite engine &amp; bespoke 4-color aquatic design system.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0D3B4C"/>
                </a:solidFill>
              </a:rPr>
              <a:t>5. Implementation &amp; Workflows  —  </a:t>
            </a:r>
            <a:r>
              <a:rPr>
                <a:solidFill>
                  <a:srgbClr val="28323C"/>
                </a:solidFill>
              </a:rPr>
              <a:t>Interactive role-based modules (Alex Turner vs. Dr. Vikram Malhotra) &amp; verified features.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0D3B4C"/>
                </a:solidFill>
              </a:rPr>
              <a:t>6. Verification &amp; Results  —  </a:t>
            </a:r>
            <a:r>
              <a:rPr>
                <a:solidFill>
                  <a:srgbClr val="28323C"/>
                </a:solidFill>
              </a:rPr>
              <a:t>Comprehensive test matrix (TC-01 to TC-05) &amp; sub-50ms empirical latency benchmarks.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0D3B4C"/>
                </a:solidFill>
              </a:rPr>
              <a:t>7. Conclusion &amp; References  —  </a:t>
            </a:r>
            <a:r>
              <a:rPr>
                <a:solidFill>
                  <a:srgbClr val="28323C"/>
                </a:solidFill>
              </a:rPr>
              <a:t>Key deliverables, planned future enhancements &amp; reverse-chronological IEEE citations.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1: PROBLEM DOMAIN REALITIES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Introduction: Domain Observations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2976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4297680" cy="59436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27048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OBSERVED CAMPUS BOTTLENECKS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3931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Fragmented Information Silos: </a:t>
            </a:r>
            <a:r>
              <a:rPr>
                <a:solidFill>
                  <a:srgbClr val="28323C"/>
                </a:solidFill>
              </a:rPr>
              <a:t>Timetables, circulars, and notes scattered across uncoordinated bulletin boards and chat groups [8].</a:t>
            </a:r>
          </a:p>
          <a:p>
            <a:pPr>
              <a:spcAft>
                <a:spcPts val="16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Attendance Opacity: </a:t>
            </a:r>
            <a:r>
              <a:rPr>
                <a:solidFill>
                  <a:srgbClr val="28323C"/>
                </a:solidFill>
              </a:rPr>
              <a:t>Students lack predictive visibility into safe-bunk and deficit margins, triggering exam debarment.</a:t>
            </a:r>
          </a:p>
          <a:p>
            <a:pPr>
              <a:spcAft>
                <a:spcPts val="16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Submissions Chaos: </a:t>
            </a:r>
            <a:r>
              <a:rPr>
                <a:solidFill>
                  <a:srgbClr val="28323C"/>
                </a:solidFill>
              </a:rPr>
              <a:t>Assignment repositories and links get lost in ad-hoc faculty emails with zero audit tracking.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463040"/>
            <a:ext cx="42976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1463040"/>
            <a:ext cx="4297680" cy="59436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27048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LIMITATIONS OF CURRENT 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94560"/>
            <a:ext cx="3931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Legacy Monolithic ERPs: </a:t>
            </a:r>
            <a:r>
              <a:rPr>
                <a:solidFill>
                  <a:srgbClr val="28323C"/>
                </a:solidFill>
              </a:rPr>
              <a:t>Cluttered desktop interfaces with high latency, complex schemas, and zero mobile responsiveness [1].</a:t>
            </a:r>
          </a:p>
          <a:p>
            <a:pPr>
              <a:spcAft>
                <a:spcPts val="16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Paper-Based Manual Forms: </a:t>
            </a:r>
            <a:r>
              <a:rPr>
                <a:solidFill>
                  <a:srgbClr val="28323C"/>
                </a:solidFill>
              </a:rPr>
              <a:t>Grievances and lost-and-found items tracked via physical slips with zero status tracking.</a:t>
            </a:r>
          </a:p>
          <a:p>
            <a:pPr>
              <a:spcAft>
                <a:spcPts val="16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Absence of Grounded AI: </a:t>
            </a:r>
            <a:r>
              <a:rPr>
                <a:solidFill>
                  <a:srgbClr val="28323C"/>
                </a:solidFill>
              </a:rPr>
              <a:t>Existing portals offer no contextual search assistant grounded directly on live institutional SQL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1: INSTITUTIONAL DRIVERS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Introduction: Project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83464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834640" cy="64008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2704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1. Student Empowerment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2560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  <a:defRPr sz="17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Eliminate Debarment Stress: </a:t>
            </a:r>
            <a:r>
              <a:rPr>
                <a:solidFill>
                  <a:srgbClr val="28323C"/>
                </a:solidFill>
              </a:rPr>
              <a:t>Empower students with deterministic, real-time attendance margin calculations.</a:t>
            </a:r>
          </a:p>
          <a:p>
            <a:pPr>
              <a:spcAft>
                <a:spcPts val="1800"/>
              </a:spcAft>
              <a:defRPr sz="17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Centralized Academic Hub: </a:t>
            </a:r>
            <a:r>
              <a:rPr>
                <a:solidFill>
                  <a:srgbClr val="28323C"/>
                </a:solidFill>
              </a:rPr>
              <a:t>Single-pane access to dynamic schedules, handouts, and assignment submissions.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463040"/>
            <a:ext cx="283464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94760" y="1463040"/>
            <a:ext cx="2834640" cy="64008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52704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2. Faculty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240280"/>
            <a:ext cx="2560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  <a:defRPr sz="17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Executive Telemetry Console: </a:t>
            </a:r>
            <a:r>
              <a:rPr>
                <a:solidFill>
                  <a:srgbClr val="28323C"/>
                </a:solidFill>
              </a:rPr>
              <a:t>Real-time visibility over active students, enrolled courses, and pending grievances.</a:t>
            </a:r>
          </a:p>
          <a:p>
            <a:pPr>
              <a:spcAft>
                <a:spcPts val="1800"/>
              </a:spcAft>
              <a:defRPr sz="17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Traceable Resolution Desk: </a:t>
            </a:r>
            <a:r>
              <a:rPr>
                <a:solidFill>
                  <a:srgbClr val="28323C"/>
                </a:solidFill>
              </a:rPr>
              <a:t>Automated tracking IDs (e.g. ISSUE-2026-881) for infrastructure transparency.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463040"/>
            <a:ext cx="283464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0" y="1463040"/>
            <a:ext cx="2834640" cy="64008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52704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3. Architecture Modernization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240280"/>
            <a:ext cx="2560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  <a:defRPr sz="17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Decoupled SPA Stack: </a:t>
            </a:r>
            <a:r>
              <a:rPr>
                <a:solidFill>
                  <a:srgbClr val="28323C"/>
                </a:solidFill>
              </a:rPr>
              <a:t>Modern React 19 + Express REST architecture replacing slow PHP monoliths [2].</a:t>
            </a:r>
          </a:p>
          <a:p>
            <a:pPr>
              <a:spcAft>
                <a:spcPts val="1800"/>
              </a:spcAft>
              <a:defRPr sz="17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26-Table SQL (3NF): </a:t>
            </a:r>
            <a:r>
              <a:rPr>
                <a:solidFill>
                  <a:srgbClr val="28323C"/>
                </a:solidFill>
              </a:rPr>
              <a:t>Strict referential integrity, foreign key cascading, and zero-dependency SQLite [1, 5].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1: CORE DELIVERABLES &amp; SCOPE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Introduction: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896112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84124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Objective 1: Design a Reactive Web Platform: </a:t>
            </a:r>
            <a:r>
              <a:rPr>
                <a:solidFill>
                  <a:srgbClr val="28323C"/>
                </a:solidFill>
              </a:rPr>
              <a:t>Architect an interactive React 19 SPA with modular state to replace slow fragmented systems [2].</a:t>
            </a:r>
          </a:p>
          <a:p>
            <a:pPr>
              <a:spcAft>
                <a:spcPts val="12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Objective 2: Engineer a 26-Table Relational Schema: </a:t>
            </a:r>
            <a:r>
              <a:rPr>
                <a:solidFill>
                  <a:srgbClr val="28323C"/>
                </a:solidFill>
              </a:rPr>
              <a:t>Normalize and deploy 26 SQL tables in 3NF, guaranteeing referential integrity and zero duplication [1].</a:t>
            </a:r>
          </a:p>
          <a:p>
            <a:pPr>
              <a:spcAft>
                <a:spcPts val="12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Objective 3: Formulate Attendance Margin Math: </a:t>
            </a:r>
            <a:r>
              <a:rPr>
                <a:solidFill>
                  <a:srgbClr val="28323C"/>
                </a:solidFill>
              </a:rPr>
              <a:t>Implement predictive algorithms for statutory 75% attendance thresholds and Dijkstra route pathing.</a:t>
            </a:r>
          </a:p>
          <a:p>
            <a:pPr>
              <a:spcAft>
                <a:spcPts val="12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Objective 4: Deploy Bespoke Aquatic Design System: </a:t>
            </a:r>
            <a:r>
              <a:rPr>
                <a:solidFill>
                  <a:srgbClr val="28323C"/>
                </a:solidFill>
              </a:rPr>
              <a:t>Establish a 4-tier visual theme (#E3FDFD to #71C9CE) compliant with WCAG 2.1 contrast standards [8].</a:t>
            </a:r>
          </a:p>
          <a:p>
            <a:pPr>
              <a:spcAft>
                <a:spcPts val="12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Objective 5: Integrate Grounded Campus AI Engine: </a:t>
            </a:r>
            <a:r>
              <a:rPr>
                <a:solidFill>
                  <a:srgbClr val="28323C"/>
                </a:solidFill>
              </a:rPr>
              <a:t>Construct a zero-hallucination assistant translating natural queries to direct SQL lookups (&lt;15ms).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2: PROBLEM DEFINITION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Problem Statement &amp;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8961120" cy="1508760"/>
          </a:xfrm>
          <a:prstGeom prst="roundRect">
            <a:avLst/>
          </a:prstGeom>
          <a:solidFill>
            <a:srgbClr val="E3FDFD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8595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0D3B4C"/>
                </a:solidFill>
                <a:latin typeface="Segoe UI"/>
              </a:defRPr>
            </a:pPr>
            <a:r>
              <a:t>CORE PROBLEM STATEMENT:</a:t>
            </a:r>
          </a:p>
          <a:p>
            <a:pPr>
              <a:defRPr sz="1800" b="1">
                <a:solidFill>
                  <a:srgbClr val="102542"/>
                </a:solidFill>
                <a:latin typeface="Segoe UI"/>
              </a:defRPr>
            </a:pPr>
            <a:r>
              <a:t>"Modern higher education institutions suffer from deeply fragmented, un-synchronized, and non-responsive operational systems. Students experience severe debarment anxiety due to opaque attendance tracking, while administrative workflows for circulars, lost-and-found items, and facility grievances remain manual and error-prone."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896112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8595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Challenge 1: Attendance Calculation Latency: </a:t>
            </a:r>
            <a:r>
              <a:rPr>
                <a:solidFill>
                  <a:srgbClr val="28323C"/>
                </a:solidFill>
              </a:rPr>
              <a:t>Manual registers prevent students from forecasting safe-margin absences or required recovery classes.</a:t>
            </a:r>
          </a:p>
          <a:p>
            <a:pPr>
              <a:spcAft>
                <a:spcPts val="12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Challenge 2: Database Inconsistencies &amp; Anomalies: </a:t>
            </a:r>
            <a:r>
              <a:rPr>
                <a:solidFill>
                  <a:srgbClr val="28323C"/>
                </a:solidFill>
              </a:rPr>
              <a:t>Legacy flat databases lack 3NF normalization, leading to orphaned records and deletion anomalies [1].</a:t>
            </a:r>
          </a:p>
          <a:p>
            <a:pPr>
              <a:spcAft>
                <a:spcPts val="12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Challenge 3: Disjointed Academic Life &amp; Events: </a:t>
            </a:r>
            <a:r>
              <a:rPr>
                <a:solidFill>
                  <a:srgbClr val="28323C"/>
                </a:solidFill>
              </a:rPr>
              <a:t>Paper ticketing for campus events causes duplicate registrations and lost property disputes.</a:t>
            </a:r>
          </a:p>
          <a:p>
            <a:pPr>
              <a:spcAft>
                <a:spcPts val="12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Challenge 4: High Deployment &amp; Evaluation Overhead: </a:t>
            </a:r>
            <a:r>
              <a:rPr>
                <a:solidFill>
                  <a:srgbClr val="28323C"/>
                </a:solidFill>
              </a:rPr>
              <a:t>Heavy enterprise software setups hinder agile academic project evaluation and portable grading.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2: ABSTRACT SYSTEM INTERACTION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Conceptual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7</a:t>
            </a:r>
          </a:p>
        </p:txBody>
      </p:sp>
      <p:pic>
        <p:nvPicPr>
          <p:cNvPr id="7" name="Picture 6" descr="diagra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44752"/>
            <a:ext cx="8961120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956048"/>
            <a:ext cx="8961120" cy="1280160"/>
          </a:xfrm>
          <a:prstGeom prst="roundRect">
            <a:avLst/>
          </a:prstGeom>
          <a:solidFill>
            <a:srgbClr val="E3FDFD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8595360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>
              <a:spcAft>
                <a:spcPts val="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Architectural Synthesis: </a:t>
            </a:r>
            <a:r>
              <a:rPr>
                <a:solidFill>
                  <a:srgbClr val="28323C"/>
                </a:solidFill>
              </a:rPr>
              <a:t>Decoupled React SPA communicates via asynchronous JSON REST endpoints with Express backend, persisting to a 26-table native SQLite relational engine [2, 5, 7].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5: DETAILED LAYER DECOMPOSITION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System Design: Three-Tier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83464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834640" cy="64008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2704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Tier 1: Presentation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2560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200"/>
              </a:spcAft>
              <a:defRPr sz="17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React 19 &amp; Vite SPA: </a:t>
            </a:r>
            <a:r>
              <a:rPr>
                <a:solidFill>
                  <a:srgbClr val="28323C"/>
                </a:solidFill>
              </a:rPr>
              <a:t>Declarative UI with instant sub-100ms client-side route transitions [2].</a:t>
            </a:r>
          </a:p>
          <a:p>
            <a:pPr>
              <a:spcAft>
                <a:spcPts val="2200"/>
              </a:spcAft>
              <a:defRPr sz="17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Two-Way Role Switcher: </a:t>
            </a:r>
            <a:r>
              <a:rPr>
                <a:solidFill>
                  <a:srgbClr val="28323C"/>
                </a:solidFill>
              </a:rPr>
              <a:t>Seamless viva toggling between Alex Turner (Student) and Dr. Vikram (Admin).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463040"/>
            <a:ext cx="283464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94760" y="1463040"/>
            <a:ext cx="2834640" cy="64008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52704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Tier 2: Application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240280"/>
            <a:ext cx="2560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200"/>
              </a:spcAft>
              <a:defRPr sz="17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Express RESTful Server: </a:t>
            </a:r>
            <a:r>
              <a:rPr>
                <a:solidFill>
                  <a:srgbClr val="28323C"/>
                </a:solidFill>
              </a:rPr>
              <a:t>Modular asynchronous microservice architecture running on port 5000 [3, 7].</a:t>
            </a:r>
          </a:p>
          <a:p>
            <a:pPr>
              <a:spcAft>
                <a:spcPts val="2200"/>
              </a:spcAft>
              <a:defRPr sz="17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Attendance Margin Engine: </a:t>
            </a:r>
            <a:r>
              <a:rPr>
                <a:solidFill>
                  <a:srgbClr val="28323C"/>
                </a:solidFill>
              </a:rPr>
              <a:t>Server-side algorithmic execution of predictive 75% attendance calculations.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463040"/>
            <a:ext cx="283464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0" y="1463040"/>
            <a:ext cx="2834640" cy="64008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52704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Tier 3: Persistence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240280"/>
            <a:ext cx="2560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200"/>
              </a:spcAft>
              <a:defRPr sz="17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26 Relational Tables: </a:t>
            </a:r>
            <a:r>
              <a:rPr>
                <a:solidFill>
                  <a:srgbClr val="28323C"/>
                </a:solidFill>
              </a:rPr>
              <a:t>Normalized in 3NF to eliminate duplicate records and update anomalies [1].</a:t>
            </a:r>
          </a:p>
          <a:p>
            <a:pPr>
              <a:spcAft>
                <a:spcPts val="2200"/>
              </a:spcAft>
              <a:defRPr sz="17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Native SQLite Engine: </a:t>
            </a:r>
            <a:r>
              <a:rPr>
                <a:solidFill>
                  <a:srgbClr val="28323C"/>
                </a:solidFill>
              </a:rPr>
              <a:t>Zero-dependency embedded relational database running natively in Node.js [5].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5: RELATIONAL SCHEMA &amp; 3NF INTEGRITY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System Design: 26-Table SQL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9</a:t>
            </a:r>
          </a:p>
        </p:txBody>
      </p:sp>
      <p:pic>
        <p:nvPicPr>
          <p:cNvPr id="7" name="Picture 6" descr="diagram_database_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44752"/>
            <a:ext cx="8961120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956048"/>
            <a:ext cx="8961120" cy="1280160"/>
          </a:xfrm>
          <a:prstGeom prst="roundRect">
            <a:avLst/>
          </a:prstGeom>
          <a:solidFill>
            <a:srgbClr val="E3FDFD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8595360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>
              <a:spcAft>
                <a:spcPts val="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Third Normal Form (3NF) Guarantee: </a:t>
            </a:r>
            <a:r>
              <a:rPr>
                <a:solidFill>
                  <a:srgbClr val="28323C"/>
                </a:solidFill>
              </a:rPr>
              <a:t>All 26 tables satisfy Boyced-Codd &amp; 3NF: non-prime attributes are fully functionally dependent solely on the primary key, preventing update circularities [1].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5: STUDENT VS. ADMIN FUNCTIONING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System Design: Dual-Role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2976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4297680" cy="59436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27048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STUDENT CONSOLE (ALEX TURNER)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3931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Predictive Attendance: </a:t>
            </a:r>
            <a:r>
              <a:rPr>
                <a:solidFill>
                  <a:srgbClr val="28323C"/>
                </a:solidFill>
              </a:rPr>
              <a:t>Real-time 85.2% display with shortage warning (DBMS at 72.0% -&gt; 'Need 3 more classes').</a:t>
            </a:r>
          </a:p>
          <a:p>
            <a:pPr>
              <a:spcAft>
                <a:spcPts val="14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Interactive Timetable: </a:t>
            </a:r>
            <a:r>
              <a:rPr>
                <a:solidFill>
                  <a:srgbClr val="28323C"/>
                </a:solidFill>
              </a:rPr>
              <a:t>Monday-to-Saturday schedule matrix with period highlight and lecture handouts.</a:t>
            </a:r>
          </a:p>
          <a:p>
            <a:pPr>
              <a:spcAft>
                <a:spcPts val="14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Submissions &amp; Passes: </a:t>
            </a:r>
            <a:r>
              <a:rPr>
                <a:solidFill>
                  <a:srgbClr val="28323C"/>
                </a:solidFill>
              </a:rPr>
              <a:t>GitHub repo submissions modal and digital barcode event passes (Technova 2026).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463040"/>
            <a:ext cx="42976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1463040"/>
            <a:ext cx="4297680" cy="59436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27048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ADMIN COMMAND (DR. V. MALHOTRA)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94560"/>
            <a:ext cx="3931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Executive Telemetry: </a:t>
            </a:r>
            <a:r>
              <a:rPr>
                <a:solidFill>
                  <a:srgbClr val="28323C"/>
                </a:solidFill>
              </a:rPr>
              <a:t>Live metrics: 4 active enrolled students, 11 department courses, and 2 pending tickets.</a:t>
            </a:r>
          </a:p>
          <a:p>
            <a:pPr>
              <a:spcAft>
                <a:spcPts val="14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Grievance Resolution: </a:t>
            </a:r>
            <a:r>
              <a:rPr>
                <a:solidFill>
                  <a:srgbClr val="28323C"/>
                </a:solidFill>
              </a:rPr>
              <a:t>1-click status resolution transitioning ISSUE-2026-881 to 'Resolved' with audit remarks.</a:t>
            </a:r>
          </a:p>
          <a:p>
            <a:pPr>
              <a:spcAft>
                <a:spcPts val="14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Circulars &amp; Claims: </a:t>
            </a:r>
            <a:r>
              <a:rPr>
                <a:solidFill>
                  <a:srgbClr val="28323C"/>
                </a:solidFill>
              </a:rPr>
              <a:t>Departmental broadcast pipeline drafting circulars and Lost &amp; Found claims desk.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5: ALGORITHMIC LOGIC &amp; FORMULATIONS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System Design: Mathematical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11</a:t>
            </a:r>
          </a:p>
        </p:txBody>
      </p:sp>
      <p:pic>
        <p:nvPicPr>
          <p:cNvPr id="7" name="Picture 6" descr="diagram_attendance_m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44752"/>
            <a:ext cx="8961120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956048"/>
            <a:ext cx="8961120" cy="1280160"/>
          </a:xfrm>
          <a:prstGeom prst="roundRect">
            <a:avLst/>
          </a:prstGeom>
          <a:solidFill>
            <a:srgbClr val="E3FDFD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8595360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>
              <a:spcAft>
                <a:spcPts val="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Algorithmic Efficiency: </a:t>
            </a:r>
            <a:r>
              <a:rPr>
                <a:solidFill>
                  <a:srgbClr val="28323C"/>
                </a:solidFill>
              </a:rPr>
              <a:t>Dijkstra indoor pathing calculates optimal multi-floor routes in under 5ms, while attendance margins calculate in O(1)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4: MODERN DECOUPLED TECH STACK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Technologies &amp;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83464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834640" cy="64008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2704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React 19 &amp;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2560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200"/>
              </a:spcAft>
              <a:defRPr sz="17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Modern React 19 SPA: </a:t>
            </a:r>
            <a:r>
              <a:rPr>
                <a:solidFill>
                  <a:srgbClr val="28323C"/>
                </a:solidFill>
              </a:rPr>
              <a:t>Declarative component UI with optimized rendering and sub-100ms transitions [2].</a:t>
            </a:r>
          </a:p>
          <a:p>
            <a:pPr>
              <a:spcAft>
                <a:spcPts val="2200"/>
              </a:spcAft>
              <a:defRPr sz="17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Vite Tooling &amp; HMR: </a:t>
            </a:r>
            <a:r>
              <a:rPr>
                <a:solidFill>
                  <a:srgbClr val="28323C"/>
                </a:solidFill>
              </a:rPr>
              <a:t>Lightning-fast build pipeline with instant module replacement (&lt;150ms).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463040"/>
            <a:ext cx="283464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94760" y="1463040"/>
            <a:ext cx="2834640" cy="64008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52704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Node.js &amp; Express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240280"/>
            <a:ext cx="2560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200"/>
              </a:spcAft>
              <a:defRPr sz="17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Express 4.21 Microservice: </a:t>
            </a:r>
            <a:r>
              <a:rPr>
                <a:solidFill>
                  <a:srgbClr val="28323C"/>
                </a:solidFill>
              </a:rPr>
              <a:t>Asynchronous unopinionated routing middleware on port 5000 [7].</a:t>
            </a:r>
          </a:p>
          <a:p>
            <a:pPr>
              <a:spcAft>
                <a:spcPts val="2200"/>
              </a:spcAft>
              <a:defRPr sz="17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Security &amp; Stateless API: </a:t>
            </a:r>
            <a:r>
              <a:rPr>
                <a:solidFill>
                  <a:srgbClr val="28323C"/>
                </a:solidFill>
              </a:rPr>
              <a:t>CORS-enabled JSON endpoints with role-based access validation.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463040"/>
            <a:ext cx="283464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0" y="1463040"/>
            <a:ext cx="2834640" cy="64008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52704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Native SQLite (3NF)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240280"/>
            <a:ext cx="2560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200"/>
              </a:spcAft>
              <a:defRPr sz="17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Zero-Dependency Driver: </a:t>
            </a:r>
            <a:r>
              <a:rPr>
                <a:solidFill>
                  <a:srgbClr val="28323C"/>
                </a:solidFill>
              </a:rPr>
              <a:t>Node.js built-in database requiring zero external configuration [5].</a:t>
            </a:r>
          </a:p>
          <a:p>
            <a:pPr>
              <a:spcAft>
                <a:spcPts val="2200"/>
              </a:spcAft>
              <a:defRPr sz="17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ACID Compliance &amp; 3NF: </a:t>
            </a:r>
            <a:r>
              <a:rPr>
                <a:solidFill>
                  <a:srgbClr val="28323C"/>
                </a:solidFill>
              </a:rPr>
              <a:t>Strict atomic transactions across 26 normalized relational tables [1].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4: VISUAL ERGONOMICS &amp; COLOR PALETTE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Technologies: Aquatic Design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057400" cy="1691640"/>
          </a:xfrm>
          <a:prstGeom prst="roundRect">
            <a:avLst/>
          </a:prstGeom>
          <a:solidFill>
            <a:srgbClr val="E3FDFD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874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0D3B4C"/>
                </a:solidFill>
                <a:latin typeface="Segoe UI"/>
              </a:defRPr>
            </a:pPr>
            <a:r>
              <a:t>#E3FDFD</a:t>
            </a:r>
          </a:p>
          <a:p>
            <a:pPr>
              <a:spcAft>
                <a:spcPts val="400"/>
              </a:spcAft>
              <a:defRPr sz="1700" b="1">
                <a:solidFill>
                  <a:srgbClr val="0D3B4C"/>
                </a:solidFill>
                <a:latin typeface="Segoe UI"/>
              </a:defRPr>
            </a:pPr>
            <a:r>
              <a:t>Light Ice Blue</a:t>
            </a:r>
          </a:p>
          <a:p>
            <a:pPr>
              <a:defRPr sz="1700">
                <a:solidFill>
                  <a:srgbClr val="0D3B4C"/>
                </a:solidFill>
                <a:latin typeface="Segoe UI"/>
              </a:defRPr>
            </a:pPr>
            <a:r>
              <a:t>Primary Canvas &amp; Viewport Background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26664" y="1463040"/>
            <a:ext cx="2057400" cy="1691640"/>
          </a:xfrm>
          <a:prstGeom prst="roundRect">
            <a:avLst/>
          </a:prstGeom>
          <a:solidFill>
            <a:srgbClr val="CBF1F5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8104" y="1554480"/>
            <a:ext cx="1874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0D3B4C"/>
                </a:solidFill>
                <a:latin typeface="Segoe UI"/>
              </a:defRPr>
            </a:pPr>
            <a:r>
              <a:t>#CBF1F5</a:t>
            </a:r>
          </a:p>
          <a:p>
            <a:pPr>
              <a:spcAft>
                <a:spcPts val="400"/>
              </a:spcAft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Soft Aqua</a:t>
            </a:r>
          </a:p>
          <a:p>
            <a:pPr>
              <a:defRPr sz="1700">
                <a:solidFill>
                  <a:srgbClr val="0D3B4C"/>
                </a:solidFill>
                <a:latin typeface="Segoe UI"/>
              </a:defRPr>
            </a:pPr>
            <a:r>
              <a:t>Card Surfaces, Active Tabs &amp; Modals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21808" y="1463040"/>
            <a:ext cx="2057400" cy="1691640"/>
          </a:xfrm>
          <a:prstGeom prst="roundRect">
            <a:avLst/>
          </a:prstGeom>
          <a:solidFill>
            <a:srgbClr val="A6E3E9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13248" y="1554480"/>
            <a:ext cx="1874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0D3B4C"/>
                </a:solidFill>
                <a:latin typeface="Segoe UI"/>
              </a:defRPr>
            </a:pPr>
            <a:r>
              <a:t>#A6E3E9</a:t>
            </a:r>
          </a:p>
          <a:p>
            <a:pPr>
              <a:spcAft>
                <a:spcPts val="400"/>
              </a:spcAft>
              <a:defRPr sz="1700" b="1">
                <a:solidFill>
                  <a:srgbClr val="0D3B4C"/>
                </a:solidFill>
                <a:latin typeface="Segoe UI"/>
              </a:defRPr>
            </a:pPr>
            <a:r>
              <a:t>Vibrant Cyan</a:t>
            </a:r>
          </a:p>
          <a:p>
            <a:pPr>
              <a:defRPr sz="1700">
                <a:solidFill>
                  <a:srgbClr val="0D3B4C"/>
                </a:solidFill>
                <a:latin typeface="Segoe UI"/>
              </a:defRPr>
            </a:pPr>
            <a:r>
              <a:t>Borders, Badges &amp; Secondary Accents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6952" y="1463040"/>
            <a:ext cx="2057400" cy="1691640"/>
          </a:xfrm>
          <a:prstGeom prst="roundRect">
            <a:avLst/>
          </a:prstGeom>
          <a:solidFill>
            <a:srgbClr val="71C9CE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08392" y="1554480"/>
            <a:ext cx="1874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#71C9CE</a:t>
            </a:r>
          </a:p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Deep Cyan Accent</a:t>
            </a:r>
          </a:p>
          <a:p>
            <a:pPr>
              <a:defRPr sz="1700">
                <a:solidFill>
                  <a:srgbClr val="FFFFFF"/>
                </a:solidFill>
                <a:latin typeface="Segoe UI"/>
              </a:defRPr>
            </a:pPr>
            <a:r>
              <a:t>Primary CTAs, Buttons &amp; Active Headers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896112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29000"/>
            <a:ext cx="8595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Visual Ergonomics &amp; Contrast Ratio: </a:t>
            </a:r>
            <a:r>
              <a:rPr>
                <a:solidFill>
                  <a:srgbClr val="28323C"/>
                </a:solidFill>
              </a:rPr>
              <a:t>Exceeds WCAG 2.1 AA standards with contrast ratios exceeding 4.8:1 against deep slate text, minimizing eye strain [8].</a:t>
            </a:r>
          </a:p>
          <a:p>
            <a:pPr>
              <a:spcAft>
                <a:spcPts val="12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100% Cross-Device Responsiveness: </a:t>
            </a:r>
            <a:r>
              <a:rPr>
                <a:solidFill>
                  <a:srgbClr val="28323C"/>
                </a:solidFill>
              </a:rPr>
              <a:t>CSS Flexbox and Grid layouts dynamically adapt from mobile screens (360px) to ultra-wide displays (4K).</a:t>
            </a:r>
          </a:p>
          <a:p>
            <a:pPr>
              <a:spcAft>
                <a:spcPts val="12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Unified Interaction States: </a:t>
            </a:r>
            <a:r>
              <a:rPr>
                <a:solidFill>
                  <a:srgbClr val="28323C"/>
                </a:solidFill>
              </a:rPr>
              <a:t>Consistent interactive button states (hover, focus, active) with subtle 150ms cubic-bezier transition curves.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4: COMPARISON WITH EXISTING SOLUTIONS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Technologies: Value Addition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896112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  <a:gridCol w="3474720"/>
              </a:tblGrid>
              <a:tr h="7848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 / METRIC</a:t>
                      </a:r>
                    </a:p>
                  </a:txBody>
                  <a:tcPr>
                    <a:solidFill>
                      <a:srgbClr val="0D3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TRADITIONAL COLLEGE PORTALS</a:t>
                      </a:r>
                    </a:p>
                  </a:txBody>
                  <a:tcPr>
                    <a:solidFill>
                      <a:srgbClr val="0D3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PROPOSED CAMPUS 360 SYSTEM</a:t>
                      </a:r>
                    </a:p>
                  </a:txBody>
                  <a:tcPr>
                    <a:solidFill>
                      <a:srgbClr val="0D3B4C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D3B4C"/>
                          </a:solidFill>
                          <a:latin typeface="Segoe UI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Monolithic server-rendered PHP / JSP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2"/>
                          </a:solidFill>
                          <a:latin typeface="Segoe UI"/>
                        </a:defRPr>
                      </a:pPr>
                      <a:r>
                        <a:t>Decoupled React 19 SPA + Express REST API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D3B4C"/>
                          </a:solidFill>
                          <a:latin typeface="Segoe UI"/>
                        </a:defRPr>
                      </a:pPr>
                      <a:r>
                        <a:t>Database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Un-indexed flat tables with redundancies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2"/>
                          </a:solidFill>
                          <a:latin typeface="Segoe UI"/>
                        </a:defRPr>
                      </a:pPr>
                      <a:r>
                        <a:t>26 Relational SQL tables normalized in 3NF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D3B4C"/>
                          </a:solidFill>
                          <a:latin typeface="Segoe UI"/>
                        </a:defRPr>
                      </a:pPr>
                      <a:r>
                        <a:t>Design Theme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Cluttered enterprise tables, poor mobile UX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2"/>
                          </a:solidFill>
                          <a:latin typeface="Segoe UI"/>
                        </a:defRPr>
                      </a:pPr>
                      <a:r>
                        <a:t>Bespoke 4-Color Aquatic Palette (#71C9CE)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D3B4C"/>
                          </a:solidFill>
                          <a:latin typeface="Segoe UI"/>
                        </a:defRPr>
                      </a:pPr>
                      <a:r>
                        <a:t>Attendance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Static percentage without predictive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2"/>
                          </a:solidFill>
                          <a:latin typeface="Segoe UI"/>
                        </a:defRPr>
                      </a:pPr>
                      <a:r>
                        <a:t>Dynamic Safe-Margin &amp; Debarment Alert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D3B4C"/>
                          </a:solidFill>
                          <a:latin typeface="Segoe UI"/>
                        </a:defRPr>
                      </a:pPr>
                      <a:r>
                        <a:t>Campus AI Assist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Absent or generic hallucinating models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2"/>
                          </a:solidFill>
                          <a:latin typeface="Segoe UI"/>
                        </a:defRPr>
                      </a:pPr>
                      <a:r>
                        <a:t>Grounded SQL Natural Language Query Assistant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6: SYSTEM MODULES &amp; OUTPUT VERIFICATION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Implementation: Interactive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896112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84124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1. Smart Dashboard Console: </a:t>
            </a:r>
            <a:r>
              <a:rPr>
                <a:solidFill>
                  <a:srgbClr val="28323C"/>
                </a:solidFill>
              </a:rPr>
              <a:t>Real-time student gauge (85.2%), critical course debarment warning (DBMS at 72.0%), today's schedule card, and mid-term exam seat allocation (Hall 301, Seat B-14).</a:t>
            </a:r>
          </a:p>
          <a:p>
            <a:pPr>
              <a:spcAft>
                <a:spcPts val="14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2. Administrator Command Center: </a:t>
            </a:r>
            <a:r>
              <a:rPr>
                <a:solidFill>
                  <a:srgbClr val="28323C"/>
                </a:solidFill>
              </a:rPr>
              <a:t>Executive telemetry panel (4 active students, 11 courses, 2 open tickets), 1-click grievance resolution tool, and departmental circular broadcast system.</a:t>
            </a:r>
          </a:p>
          <a:p>
            <a:pPr>
              <a:spcAft>
                <a:spcPts val="14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3. Academics &amp; Timetables Hub: </a:t>
            </a:r>
            <a:r>
              <a:rPr>
                <a:solidFill>
                  <a:srgbClr val="28323C"/>
                </a:solidFill>
              </a:rPr>
              <a:t>Interactive Monday-to-Saturday schedule matrix with room codes, faculty designations, downloadable study materials, and GitHub submission modals.</a:t>
            </a:r>
          </a:p>
          <a:p>
            <a:pPr>
              <a:spcAft>
                <a:spcPts val="14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4. Campus Life &amp; Utilities Desk: </a:t>
            </a:r>
            <a:r>
              <a:rPr>
                <a:solidFill>
                  <a:srgbClr val="28323C"/>
                </a:solidFill>
              </a:rPr>
              <a:t>Digital event pass ticketing (Technova 2026 pass TCK-TECHNOVA-8842), lost-and-found claims desk, and multi-floor campus navigation directory.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6: QUALITY ASSURANCE &amp; VERIFICATION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Verification: Test Execution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44752"/>
          <a:ext cx="89611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468880"/>
                <a:gridCol w="4206240"/>
                <a:gridCol w="1280160"/>
              </a:tblGrid>
              <a:tr h="563880"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0D3B4C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CASE DESCRIPTION</a:t>
                      </a:r>
                    </a:p>
                  </a:txBody>
                  <a:tcPr>
                    <a:solidFill>
                      <a:srgbClr val="0D3B4C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EXPECTED &amp; OBSERVED OUTPUT</a:t>
                      </a:r>
                    </a:p>
                  </a:txBody>
                  <a:tcPr>
                    <a:solidFill>
                      <a:srgbClr val="0D3B4C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D3B4C"/>
                    </a:solidFill>
                  </a:tcPr>
                </a:tc>
              </a:tr>
              <a:tr h="563880"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0D3B4C"/>
                          </a:solidFill>
                          <a:latin typeface="Segoe UI"/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Authentication &amp; Role Switch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Instant transition between Student &amp; Admin views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</a:tr>
              <a:tr h="563880"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0D3B4C"/>
                          </a:solidFill>
                          <a:latin typeface="Segoe UI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Attendance Margin Algorithm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Correctly computes 'Need 3 more classes' for DBMS (72%)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0D3B4C"/>
                          </a:solidFill>
                          <a:latin typeface="Segoe UI"/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Assignment Submissions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GitHub URL validated; badge transitions to 'Submitted'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</a:tr>
              <a:tr h="563880"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0D3B4C"/>
                          </a:solidFill>
                          <a:latin typeface="Segoe UI"/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Digital Event Pass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Generates unique ticket pass (TCK-TECHNOVA-8842)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0D3B4C"/>
                          </a:solidFill>
                          <a:latin typeface="Segoe UI"/>
                        </a:defRPr>
                      </a:pPr>
                      <a:r>
                        <a:t>TC-05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Grounded Campus AI Query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>
                          <a:solidFill>
                            <a:srgbClr val="28323C"/>
                          </a:solidFill>
                          <a:latin typeface="Segoe UI"/>
                        </a:defRPr>
                      </a:pPr>
                      <a:r>
                        <a:t>Translates natural language to SQL in under 15ms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  <a:tc>
                  <a:txBody>
                    <a:bodyPr tIns="0" bIns="0" lIns="0" rIns="0"/>
                    <a:lstStyle/>
                    <a:p>
                      <a:pPr>
                        <a:defRPr sz="17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E3FDF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029200"/>
            <a:ext cx="8961120" cy="1188720"/>
          </a:xfrm>
          <a:prstGeom prst="roundRect">
            <a:avLst/>
          </a:prstGeom>
          <a:solidFill>
            <a:srgbClr val="E3FDFD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02352"/>
            <a:ext cx="8595360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>
              <a:spcAft>
                <a:spcPts val="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Test Coverage Summary: </a:t>
            </a:r>
            <a:r>
              <a:rPr>
                <a:solidFill>
                  <a:srgbClr val="28323C"/>
                </a:solidFill>
              </a:rPr>
              <a:t>100% test execution pass rate across all 5 core test cases with zero runtime regressions, validating end-to-end client-server functional integrity.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6: SYSTEM TELEMETRY &amp; RESPONSE SLA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Empirical Latency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17</a:t>
            </a:r>
          </a:p>
        </p:txBody>
      </p:sp>
      <p:pic>
        <p:nvPicPr>
          <p:cNvPr id="7" name="Picture 6" descr="diagram_benchmar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44752"/>
            <a:ext cx="8961120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956048"/>
            <a:ext cx="8961120" cy="1280160"/>
          </a:xfrm>
          <a:prstGeom prst="roundRect">
            <a:avLst/>
          </a:prstGeom>
          <a:solidFill>
            <a:srgbClr val="E3FDFD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8595360" cy="1143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  <a:p>
            <a:pPr>
              <a:spcAft>
                <a:spcPts val="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Latency Performance Analysis: </a:t>
            </a:r>
            <a:r>
              <a:rPr>
                <a:solidFill>
                  <a:srgbClr val="28323C"/>
                </a:solidFill>
              </a:rPr>
              <a:t>All core API endpoints comfortably fulfill the sub-50ms SLA limit, with database queries executing in &lt;10ms and UI rendering completing within 60fps frame budgets [5, 7].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CHAPTER 7: SUMMARY &amp; ROADMAP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2976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4297680" cy="59436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27048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PROJECT ACHIEVEMENTS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Eliminated Information Silos: </a:t>
            </a:r>
            <a:r>
              <a:rPr>
                <a:solidFill>
                  <a:srgbClr val="28323C"/>
                </a:solidFill>
              </a:rPr>
              <a:t>Centralized 8 academic and campus life services into a unified React 19 SPA [2].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3NF Relational Integrity: </a:t>
            </a:r>
            <a:r>
              <a:rPr>
                <a:solidFill>
                  <a:srgbClr val="28323C"/>
                </a:solidFill>
              </a:rPr>
              <a:t>Deployed 26 normalized SQL tables, preventing anomalies and circularities [1].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Predictive Debarment Math: </a:t>
            </a:r>
            <a:r>
              <a:rPr>
                <a:solidFill>
                  <a:srgbClr val="28323C"/>
                </a:solidFill>
              </a:rPr>
              <a:t>Transparent attendance margin calculations eliminate student debarment anxiety.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463040"/>
            <a:ext cx="42976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1463040"/>
            <a:ext cx="4297680" cy="594360"/>
          </a:xfrm>
          <a:prstGeom prst="roundRect">
            <a:avLst/>
          </a:prstGeom>
          <a:solidFill>
            <a:srgbClr val="0D3B4C"/>
          </a:solidFill>
          <a:ln w="19050">
            <a:solidFill>
              <a:srgbClr val="0D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27048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PLANNED FUTURE ENHANCEMENTS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21408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Mobile Application (PWA/Native): </a:t>
            </a:r>
            <a:r>
              <a:rPr>
                <a:solidFill>
                  <a:srgbClr val="28323C"/>
                </a:solidFill>
              </a:rPr>
              <a:t>Packaging the React frontend with Capacitor for iOS &amp; Android app stores.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Biometric Attendance IoT: </a:t>
            </a:r>
            <a:r>
              <a:rPr>
                <a:solidFill>
                  <a:srgbClr val="28323C"/>
                </a:solidFill>
              </a:rPr>
              <a:t>BLE beacons and RFID turnstiles for hands-free lecture attendance logging.</a:t>
            </a:r>
          </a:p>
          <a:p>
            <a:pPr>
              <a:spcAft>
                <a:spcPts val="800"/>
              </a:spcAft>
              <a:defRPr sz="1800">
                <a:latin typeface="Segoe UI"/>
              </a:defRPr>
            </a:pPr>
            <a:r>
              <a:rPr b="1">
                <a:solidFill>
                  <a:srgbClr val="71C9CE"/>
                </a:solidFill>
              </a:rPr>
              <a:t>▪ </a:t>
            </a:r>
            <a:r>
              <a:rPr b="1">
                <a:solidFill>
                  <a:srgbClr val="0D3B4C"/>
                </a:solidFill>
              </a:rPr>
              <a:t>Automated Timetable Synthesizer: </a:t>
            </a:r>
            <a:r>
              <a:rPr>
                <a:solidFill>
                  <a:srgbClr val="28323C"/>
                </a:solidFill>
              </a:rPr>
              <a:t>Genetic constraint algorithms to auto-schedule clash-free lectures.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REVERSE CHRONOLOGICAL: 2026 – 2023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References: Modern Frameworks &amp;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896112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85953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latin typeface="Segoe UI"/>
              </a:defRPr>
            </a:pPr>
            <a:r>
              <a:rPr>
                <a:solidFill>
                  <a:srgbClr val="28323C"/>
                </a:solidFill>
              </a:rPr>
              <a:t>[1] React Development Community, </a:t>
            </a:r>
            <a:r>
              <a:rPr b="1">
                <a:solidFill>
                  <a:srgbClr val="0D3B4C"/>
                </a:solidFill>
              </a:rPr>
              <a:t>"React 19 &amp; Modern Component Architecture Design Patterns"</a:t>
            </a:r>
            <a:r>
              <a:rPr>
                <a:solidFill>
                  <a:srgbClr val="28323C"/>
                </a:solidFill>
              </a:rPr>
              <a:t>, Meta Open Source, </a:t>
            </a:r>
            <a:r>
              <a:rPr b="1">
                <a:solidFill>
                  <a:srgbClr val="71C9CE"/>
                </a:solidFill>
              </a:rPr>
              <a:t>Year: 2026. </a:t>
            </a:r>
            <a:r>
              <a:rPr>
                <a:solidFill>
                  <a:srgbClr val="2563EB"/>
                </a:solidFill>
              </a:rPr>
              <a:t>Link: https://react.dev</a:t>
            </a:r>
          </a:p>
          <a:p>
            <a:pPr>
              <a:spcAft>
                <a:spcPts val="1400"/>
              </a:spcAft>
              <a:defRPr sz="1800">
                <a:latin typeface="Segoe UI"/>
              </a:defRPr>
            </a:pPr>
            <a:r>
              <a:rPr>
                <a:solidFill>
                  <a:srgbClr val="28323C"/>
                </a:solidFill>
              </a:rPr>
              <a:t>[2] SQLite Development Team, </a:t>
            </a:r>
            <a:r>
              <a:rPr b="1">
                <a:solidFill>
                  <a:srgbClr val="0D3B4C"/>
                </a:solidFill>
              </a:rPr>
              <a:t>"SQLite 3.45 Architecture and In-Memory Query Processing"</a:t>
            </a:r>
            <a:r>
              <a:rPr>
                <a:solidFill>
                  <a:srgbClr val="28323C"/>
                </a:solidFill>
              </a:rPr>
              <a:t>, SQLite Consortium, </a:t>
            </a:r>
            <a:r>
              <a:rPr b="1">
                <a:solidFill>
                  <a:srgbClr val="71C9CE"/>
                </a:solidFill>
              </a:rPr>
              <a:t>Year: 2025. </a:t>
            </a:r>
            <a:r>
              <a:rPr>
                <a:solidFill>
                  <a:srgbClr val="2563EB"/>
                </a:solidFill>
              </a:rPr>
              <a:t>Link: https://www.sqlite.org/docs.html</a:t>
            </a:r>
          </a:p>
          <a:p>
            <a:pPr>
              <a:spcAft>
                <a:spcPts val="1400"/>
              </a:spcAft>
              <a:defRPr sz="1800">
                <a:latin typeface="Segoe UI"/>
              </a:defRPr>
            </a:pPr>
            <a:r>
              <a:rPr>
                <a:solidFill>
                  <a:srgbClr val="28323C"/>
                </a:solidFill>
              </a:rPr>
              <a:t>[3] Express.js Authors, </a:t>
            </a:r>
            <a:r>
              <a:rPr b="1">
                <a:solidFill>
                  <a:srgbClr val="0D3B4C"/>
                </a:solidFill>
              </a:rPr>
              <a:t>"Express RESTful Middleware Framework &amp; Scalable Microservices"</a:t>
            </a:r>
            <a:r>
              <a:rPr>
                <a:solidFill>
                  <a:srgbClr val="28323C"/>
                </a:solidFill>
              </a:rPr>
              <a:t>, OpenJS Foundation, </a:t>
            </a:r>
            <a:r>
              <a:rPr b="1">
                <a:solidFill>
                  <a:srgbClr val="71C9CE"/>
                </a:solidFill>
              </a:rPr>
              <a:t>Year: 2025. </a:t>
            </a:r>
            <a:r>
              <a:rPr>
                <a:solidFill>
                  <a:srgbClr val="2563EB"/>
                </a:solidFill>
              </a:rPr>
              <a:t>Link: https://expressjs.com</a:t>
            </a:r>
          </a:p>
          <a:p>
            <a:pPr>
              <a:spcAft>
                <a:spcPts val="1400"/>
              </a:spcAft>
              <a:defRPr sz="1800">
                <a:latin typeface="Segoe UI"/>
              </a:defRPr>
            </a:pPr>
            <a:r>
              <a:rPr>
                <a:solidFill>
                  <a:srgbClr val="28323C"/>
                </a:solidFill>
              </a:rPr>
              <a:t>[4] W3C Web Accessibility Initiative, </a:t>
            </a:r>
            <a:r>
              <a:rPr b="1">
                <a:solidFill>
                  <a:srgbClr val="0D3B4C"/>
                </a:solidFill>
              </a:rPr>
              <a:t>"Web Content Accessibility Guidelines (WCAG) 2.1 Standard"</a:t>
            </a:r>
            <a:r>
              <a:rPr>
                <a:solidFill>
                  <a:srgbClr val="28323C"/>
                </a:solidFill>
              </a:rPr>
              <a:t>, W3C Recommendation, </a:t>
            </a:r>
            <a:r>
              <a:rPr b="1">
                <a:solidFill>
                  <a:srgbClr val="71C9CE"/>
                </a:solidFill>
              </a:rPr>
              <a:t>Year: 2023. </a:t>
            </a:r>
            <a:r>
              <a:rPr>
                <a:solidFill>
                  <a:srgbClr val="2563EB"/>
                </a:solidFill>
              </a:rPr>
              <a:t>Link: https://www.w3.org/TR/WCAG21/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71C9CE"/>
                </a:solidFill>
                <a:latin typeface="Segoe UI"/>
              </a:defRPr>
            </a:pPr>
            <a:r>
              <a:t>REVERSE CHRONOLOGICAL: 2020 – 2017</a:t>
            </a:r>
          </a:p>
          <a:p>
            <a:pPr>
              <a:defRPr sz="2800" b="1">
                <a:solidFill>
                  <a:srgbClr val="0D3B4C"/>
                </a:solidFill>
                <a:latin typeface="Segoe UI"/>
              </a:defRPr>
            </a:pPr>
            <a:r>
              <a:t>References: Foundational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896112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>
                <a:solidFill>
                  <a:srgbClr val="6E7882"/>
                </a:solidFill>
                <a:latin typeface="Segoe UI"/>
              </a:defRPr>
            </a:pPr>
            <a:r>
              <a:t>A.P. Shah Institute of Technology | Dept. of CSE (Data Science) | Campus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1005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700" b="1">
                <a:solidFill>
                  <a:srgbClr val="0D3B4C"/>
                </a:solidFill>
                <a:latin typeface="Segoe UI"/>
              </a:defRPr>
            </a:pPr>
            <a:r>
              <a:t>Slide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896112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85953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latin typeface="Segoe UI"/>
              </a:defRPr>
            </a:pPr>
            <a:r>
              <a:rPr>
                <a:solidFill>
                  <a:srgbClr val="28323C"/>
                </a:solidFill>
              </a:rPr>
              <a:t>[5] A. Banks and E. Porcello, </a:t>
            </a:r>
            <a:r>
              <a:rPr b="1">
                <a:solidFill>
                  <a:srgbClr val="0D3B4C"/>
                </a:solidFill>
              </a:rPr>
              <a:t>"Learning React: Modern Patterns for Developing React Applications"</a:t>
            </a:r>
            <a:r>
              <a:rPr>
                <a:solidFill>
                  <a:srgbClr val="28323C"/>
                </a:solidFill>
              </a:rPr>
              <a:t>, 2nd ed., O'Reilly Media, pp. 45–112, </a:t>
            </a:r>
            <a:r>
              <a:rPr b="1">
                <a:solidFill>
                  <a:srgbClr val="71C9CE"/>
                </a:solidFill>
              </a:rPr>
              <a:t>Year: 2020. </a:t>
            </a:r>
            <a:r>
              <a:rPr>
                <a:solidFill>
                  <a:srgbClr val="2563EB"/>
                </a:solidFill>
              </a:rPr>
              <a:t>Link: https://www.oreilly.com</a:t>
            </a:r>
          </a:p>
          <a:p>
            <a:pPr>
              <a:spcAft>
                <a:spcPts val="1800"/>
              </a:spcAft>
              <a:defRPr sz="1800">
                <a:latin typeface="Segoe UI"/>
              </a:defRPr>
            </a:pPr>
            <a:r>
              <a:rPr>
                <a:solidFill>
                  <a:srgbClr val="28323C"/>
                </a:solidFill>
              </a:rPr>
              <a:t>[6] R. Elmasri and S. B. Navathe, </a:t>
            </a:r>
            <a:r>
              <a:rPr b="1">
                <a:solidFill>
                  <a:srgbClr val="0D3B4C"/>
                </a:solidFill>
              </a:rPr>
              <a:t>"Fundamentals of Database Systems: Normalization &amp; 3NF Integrity"</a:t>
            </a:r>
            <a:r>
              <a:rPr>
                <a:solidFill>
                  <a:srgbClr val="28323C"/>
                </a:solidFill>
              </a:rPr>
              <a:t>, 7th ed., Pearson Education, pp. 415–462, </a:t>
            </a:r>
            <a:r>
              <a:rPr b="1">
                <a:solidFill>
                  <a:srgbClr val="71C9CE"/>
                </a:solidFill>
              </a:rPr>
              <a:t>Year: 2017. </a:t>
            </a:r>
            <a:r>
              <a:rPr>
                <a:solidFill>
                  <a:srgbClr val="2563EB"/>
                </a:solidFill>
              </a:rPr>
              <a:t>Link: https://www.pearson.com</a:t>
            </a:r>
          </a:p>
          <a:p>
            <a:pPr>
              <a:spcAft>
                <a:spcPts val="1800"/>
              </a:spcAft>
              <a:defRPr sz="1800">
                <a:latin typeface="Segoe UI"/>
              </a:defRPr>
            </a:pPr>
            <a:r>
              <a:rPr>
                <a:solidFill>
                  <a:srgbClr val="28323C"/>
                </a:solidFill>
              </a:rPr>
              <a:t>[7] M. Cantelon, M. Harter, T. Holowaychuk, </a:t>
            </a:r>
            <a:r>
              <a:rPr b="1">
                <a:solidFill>
                  <a:srgbClr val="0D3B4C"/>
                </a:solidFill>
              </a:rPr>
              <a:t>"Node.js in Action: Event-Driven REST Architecture"</a:t>
            </a:r>
            <a:r>
              <a:rPr>
                <a:solidFill>
                  <a:srgbClr val="28323C"/>
                </a:solidFill>
              </a:rPr>
              <a:t>, 2nd ed., Manning Publications, pp. 88–140, </a:t>
            </a:r>
            <a:r>
              <a:rPr b="1">
                <a:solidFill>
                  <a:srgbClr val="71C9CE"/>
                </a:solidFill>
              </a:rPr>
              <a:t>Year: 2017. </a:t>
            </a:r>
            <a:r>
              <a:rPr>
                <a:solidFill>
                  <a:srgbClr val="2563EB"/>
                </a:solidFill>
              </a:rPr>
              <a:t>Link: https://www.manning.com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2_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0"/>
            <a:ext cx="2407615" cy="6858000"/>
          </a:xfrm>
          <a:prstGeom prst="rect">
            <a:avLst/>
          </a:prstGeom>
        </p:spPr>
      </p:pic>
      <p:pic>
        <p:nvPicPr>
          <p:cNvPr id="3" name="Picture 2" descr="page2_Image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4320"/>
            <a:ext cx="8412480" cy="1417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1783080"/>
            <a:ext cx="8412480" cy="36576"/>
          </a:xfrm>
          <a:prstGeom prst="rect">
            <a:avLst/>
          </a:prstGeom>
          <a:solidFill>
            <a:srgbClr val="71C9CE"/>
          </a:solidFill>
          <a:ln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8412480" cy="2011680"/>
          </a:xfrm>
          <a:prstGeom prst="roundRect">
            <a:avLst/>
          </a:prstGeom>
          <a:solidFill>
            <a:srgbClr val="E3FDFD"/>
          </a:solidFill>
          <a:ln w="19050">
            <a:solidFill>
              <a:srgbClr val="71C9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8046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0D3B4C"/>
                </a:solidFill>
                <a:latin typeface="Segoe UI"/>
              </a:defRPr>
            </a:pPr>
            <a:r>
              <a:t>Thank You...!!</a:t>
            </a:r>
          </a:p>
          <a:p>
            <a:pPr algn="ctr">
              <a:defRPr sz="2200" b="1">
                <a:solidFill>
                  <a:srgbClr val="71C9CE"/>
                </a:solidFill>
                <a:latin typeface="Segoe UI"/>
              </a:defRPr>
            </a:pPr>
            <a:r>
              <a:t>Questions &amp; Answers / Viva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06240"/>
            <a:ext cx="841248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8046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0D3B4C"/>
                </a:solidFill>
                <a:latin typeface="Segoe UI"/>
              </a:defRPr>
            </a:pPr>
            <a:r>
              <a:t>Project Team: Himanshu B. Jain (25107117) | Rishikesh Deherkar (25107112) | Paran Das (25107070)</a:t>
            </a:r>
          </a:p>
          <a:p>
            <a:pPr algn="ctr">
              <a:spcAft>
                <a:spcPts val="400"/>
              </a:spcAft>
              <a:defRPr sz="1700">
                <a:solidFill>
                  <a:srgbClr val="28323C"/>
                </a:solidFill>
                <a:latin typeface="Segoe UI"/>
              </a:defRPr>
            </a:pPr>
            <a:r>
              <a:t>Project Guide: Prof. Rajashri Chaudhari | A.Y. 2026–2027</a:t>
            </a:r>
          </a:p>
          <a:p>
            <a:pPr algn="ctr">
              <a:defRPr sz="1700" b="1">
                <a:solidFill>
                  <a:srgbClr val="71C9CE"/>
                </a:solidFill>
                <a:latin typeface="Segoe UI"/>
              </a:defRPr>
            </a:pPr>
            <a:r>
              <a:t>Department of Computer Science &amp; Engineering (Data Science) | A.P. Shah Institute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